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7247B"/>
              </a:gs>
              <a:gs pos="100000">
                <a:srgbClr val="1A186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Circle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ngOutline"/>
          <p:cNvSpPr/>
          <p:nvPr/>
        </p:nvSpPr>
        <p:spPr>
          <a:xfrm>
            <a:off x="-2103120" y="3017520"/>
            <a:ext cx="4572000" cy="4572000"/>
          </a:xfrm>
          <a:prstGeom prst="ellipse">
            <a:avLst/>
          </a:prstGeom>
          <a:noFill/>
          <a:ln w="25400">
            <a:solidFill>
              <a:srgbClr val="4E7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Line"/>
          <p:cNvSpPr/>
          <p:nvPr/>
        </p:nvSpPr>
        <p:spPr>
          <a:xfrm>
            <a:off x="914400" y="2148840"/>
            <a:ext cx="502920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ickerText"/>
          <p:cNvSpPr txBox="1"/>
          <p:nvPr/>
        </p:nvSpPr>
        <p:spPr>
          <a:xfrm>
            <a:off x="914400" y="225856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B05"/>
                </a:solidFill>
                <a:latin typeface="Segoe UI"/>
              </a:rPr>
              <a:t>ARDE PRESENTATION TEMPLATE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914400" y="2514600"/>
            <a:ext cx="8412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Your Presentation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Title Goes Here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914400" y="3977639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DDFF0"/>
                </a:solidFill>
                <a:latin typeface="Segoe UI"/>
              </a:rPr>
              <a:t>A modern deck template for ARDE — Association of Rooms Division Executives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46304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DDFF0"/>
                </a:solidFill>
                <a:latin typeface="Segoe UI"/>
              </a:rPr>
              <a:t>ARDE  •  Singapore</a:t>
            </a:r>
          </a:p>
        </p:txBody>
      </p:sp>
      <p:sp>
        <p:nvSpPr>
          <p:cNvPr id="10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12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CB05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457200" y="502920"/>
            <a:ext cx="1051560" cy="105156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2"/>
          <p:cNvSpPr txBox="1"/>
          <p:nvPr/>
        </p:nvSpPr>
        <p:spPr>
          <a:xfrm>
            <a:off x="5029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B05"/>
                </a:solidFill>
                <a:latin typeface="Segoe UI"/>
              </a:rPr>
              <a:t>OVERVIEW</a:t>
            </a:r>
          </a:p>
        </p:txBody>
      </p:sp>
      <p:sp>
        <p:nvSpPr>
          <p:cNvPr id="6" name="SectionHeading"/>
          <p:cNvSpPr txBox="1"/>
          <p:nvPr/>
        </p:nvSpPr>
        <p:spPr>
          <a:xfrm>
            <a:off x="457200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7" name="SectionSub"/>
          <p:cNvSpPr txBox="1"/>
          <p:nvPr/>
        </p:nvSpPr>
        <p:spPr>
          <a:xfrm>
            <a:off x="502920" y="3063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DDFF0"/>
                </a:solidFill>
                <a:latin typeface="Segoe UI"/>
              </a:rPr>
              <a:t>What we'll cover today</a:t>
            </a:r>
          </a:p>
        </p:txBody>
      </p:sp>
      <p:sp>
        <p:nvSpPr>
          <p:cNvPr id="8" name="ItemCircle_01"/>
          <p:cNvSpPr/>
          <p:nvPr/>
        </p:nvSpPr>
        <p:spPr>
          <a:xfrm>
            <a:off x="4343400" y="960120"/>
            <a:ext cx="502920" cy="502920"/>
          </a:xfrm>
          <a:prstGeom prst="ellipse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Num_01"/>
          <p:cNvSpPr txBox="1"/>
          <p:nvPr/>
        </p:nvSpPr>
        <p:spPr>
          <a:xfrm>
            <a:off x="4343400" y="9601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B05"/>
                </a:solidFill>
                <a:latin typeface="Segoe UI"/>
              </a:rPr>
              <a:t>01</a:t>
            </a:r>
          </a:p>
        </p:txBody>
      </p:sp>
      <p:sp>
        <p:nvSpPr>
          <p:cNvPr id="10" name="ItemTitle_01"/>
          <p:cNvSpPr txBox="1"/>
          <p:nvPr/>
        </p:nvSpPr>
        <p:spPr>
          <a:xfrm>
            <a:off x="5074920" y="94183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7247B"/>
                </a:solidFill>
                <a:latin typeface="Segoe UI"/>
              </a:rPr>
              <a:t>Introduction</a:t>
            </a:r>
          </a:p>
        </p:txBody>
      </p:sp>
      <p:sp>
        <p:nvSpPr>
          <p:cNvPr id="11" name="ItemSub_01"/>
          <p:cNvSpPr txBox="1"/>
          <p:nvPr/>
        </p:nvSpPr>
        <p:spPr>
          <a:xfrm>
            <a:off x="5074920" y="13716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Who we are and what we do</a:t>
            </a:r>
          </a:p>
        </p:txBody>
      </p:sp>
      <p:sp>
        <p:nvSpPr>
          <p:cNvPr id="12" name="ItemCircle_02"/>
          <p:cNvSpPr/>
          <p:nvPr/>
        </p:nvSpPr>
        <p:spPr>
          <a:xfrm>
            <a:off x="4343400" y="2258568"/>
            <a:ext cx="502920" cy="502920"/>
          </a:xfrm>
          <a:prstGeom prst="ellipse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temNum_02"/>
          <p:cNvSpPr txBox="1"/>
          <p:nvPr/>
        </p:nvSpPr>
        <p:spPr>
          <a:xfrm>
            <a:off x="4343400" y="225856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B05"/>
                </a:solidFill>
                <a:latin typeface="Segoe UI"/>
              </a:rPr>
              <a:t>02</a:t>
            </a:r>
          </a:p>
        </p:txBody>
      </p:sp>
      <p:sp>
        <p:nvSpPr>
          <p:cNvPr id="14" name="ItemTitle_02"/>
          <p:cNvSpPr txBox="1"/>
          <p:nvPr/>
        </p:nvSpPr>
        <p:spPr>
          <a:xfrm>
            <a:off x="5074920" y="2240279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7247B"/>
                </a:solidFill>
                <a:latin typeface="Segoe UI"/>
              </a:rPr>
              <a:t>Our Programs</a:t>
            </a:r>
          </a:p>
        </p:txBody>
      </p:sp>
      <p:sp>
        <p:nvSpPr>
          <p:cNvPr id="15" name="ItemSub_02"/>
          <p:cNvSpPr txBox="1"/>
          <p:nvPr/>
        </p:nvSpPr>
        <p:spPr>
          <a:xfrm>
            <a:off x="5074920" y="267004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Membership, careers &amp; community</a:t>
            </a:r>
          </a:p>
        </p:txBody>
      </p:sp>
      <p:sp>
        <p:nvSpPr>
          <p:cNvPr id="16" name="ItemCircle_03"/>
          <p:cNvSpPr/>
          <p:nvPr/>
        </p:nvSpPr>
        <p:spPr>
          <a:xfrm>
            <a:off x="4343400" y="3557015"/>
            <a:ext cx="502920" cy="502920"/>
          </a:xfrm>
          <a:prstGeom prst="ellipse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temNum_03"/>
          <p:cNvSpPr txBox="1"/>
          <p:nvPr/>
        </p:nvSpPr>
        <p:spPr>
          <a:xfrm>
            <a:off x="4343400" y="3557015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B05"/>
                </a:solidFill>
                <a:latin typeface="Segoe UI"/>
              </a:rPr>
              <a:t>03</a:t>
            </a:r>
          </a:p>
        </p:txBody>
      </p:sp>
      <p:sp>
        <p:nvSpPr>
          <p:cNvPr id="18" name="ItemTitle_03"/>
          <p:cNvSpPr txBox="1"/>
          <p:nvPr/>
        </p:nvSpPr>
        <p:spPr>
          <a:xfrm>
            <a:off x="5074920" y="3538727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7247B"/>
                </a:solidFill>
                <a:latin typeface="Segoe UI"/>
              </a:rPr>
              <a:t>Impact &amp; Numbers</a:t>
            </a:r>
          </a:p>
        </p:txBody>
      </p:sp>
      <p:sp>
        <p:nvSpPr>
          <p:cNvPr id="19" name="ItemSub_03"/>
          <p:cNvSpPr txBox="1"/>
          <p:nvPr/>
        </p:nvSpPr>
        <p:spPr>
          <a:xfrm>
            <a:off x="5074920" y="396849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Results that matter</a:t>
            </a:r>
          </a:p>
        </p:txBody>
      </p:sp>
      <p:sp>
        <p:nvSpPr>
          <p:cNvPr id="20" name="ItemCircle_04"/>
          <p:cNvSpPr/>
          <p:nvPr/>
        </p:nvSpPr>
        <p:spPr>
          <a:xfrm>
            <a:off x="4343400" y="4855464"/>
            <a:ext cx="502920" cy="502920"/>
          </a:xfrm>
          <a:prstGeom prst="ellipse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temNum_04"/>
          <p:cNvSpPr txBox="1"/>
          <p:nvPr/>
        </p:nvSpPr>
        <p:spPr>
          <a:xfrm>
            <a:off x="4343400" y="48554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B05"/>
                </a:solidFill>
                <a:latin typeface="Segoe UI"/>
              </a:rPr>
              <a:t>04</a:t>
            </a:r>
          </a:p>
        </p:txBody>
      </p:sp>
      <p:sp>
        <p:nvSpPr>
          <p:cNvPr id="22" name="ItemTitle_04"/>
          <p:cNvSpPr txBox="1"/>
          <p:nvPr/>
        </p:nvSpPr>
        <p:spPr>
          <a:xfrm>
            <a:off x="5074920" y="4837176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7247B"/>
                </a:solidFill>
                <a:latin typeface="Segoe UI"/>
              </a:rPr>
              <a:t>Next Steps</a:t>
            </a:r>
          </a:p>
        </p:txBody>
      </p:sp>
      <p:sp>
        <p:nvSpPr>
          <p:cNvPr id="23" name="ItemSub_04"/>
          <p:cNvSpPr txBox="1"/>
          <p:nvPr/>
        </p:nvSpPr>
        <p:spPr>
          <a:xfrm>
            <a:off x="5074920" y="5266944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How to get involved</a:t>
            </a:r>
          </a:p>
        </p:txBody>
      </p:sp>
      <p:sp>
        <p:nvSpPr>
          <p:cNvPr id="24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6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7247B"/>
              </a:gs>
              <a:gs pos="100000">
                <a:srgbClr val="1A186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Circle"/>
          <p:cNvSpPr/>
          <p:nvPr/>
        </p:nvSpPr>
        <p:spPr>
          <a:xfrm>
            <a:off x="8778240" y="4297680"/>
            <a:ext cx="4206240" cy="420624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Line"/>
          <p:cNvSpPr/>
          <p:nvPr/>
        </p:nvSpPr>
        <p:spPr>
          <a:xfrm>
            <a:off x="914400" y="2331720"/>
            <a:ext cx="502920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Text"/>
          <p:cNvSpPr txBox="1"/>
          <p:nvPr/>
        </p:nvSpPr>
        <p:spPr>
          <a:xfrm>
            <a:off x="914400" y="24414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B05"/>
                </a:solidFill>
                <a:latin typeface="Segoe UI"/>
              </a:rPr>
              <a:t>CHAPTER DIVIDER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2697480"/>
            <a:ext cx="8686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 Section Divider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Like This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914400" y="3977639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DDFF0"/>
                </a:solidFill>
                <a:latin typeface="Segoe UI"/>
              </a:rPr>
              <a:t>Use these to break your deck into clear chapters.</a:t>
            </a:r>
          </a:p>
        </p:txBody>
      </p:sp>
      <p:sp>
        <p:nvSpPr>
          <p:cNvPr id="8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10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CB05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 Content Slide With Bullets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_0"/>
          <p:cNvSpPr/>
          <p:nvPr/>
        </p:nvSpPr>
        <p:spPr>
          <a:xfrm>
            <a:off x="731520" y="1764792"/>
            <a:ext cx="146304" cy="146304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ulletTitle_0"/>
          <p:cNvSpPr txBox="1"/>
          <p:nvPr/>
        </p:nvSpPr>
        <p:spPr>
          <a:xfrm>
            <a:off x="1097280" y="163677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7247B"/>
                </a:solidFill>
                <a:latin typeface="Segoe UI"/>
              </a:rPr>
              <a:t>Clear Point One</a:t>
            </a:r>
          </a:p>
        </p:txBody>
      </p:sp>
      <p:sp>
        <p:nvSpPr>
          <p:cNvPr id="9" name="BulletDesc_0"/>
          <p:cNvSpPr txBox="1"/>
          <p:nvPr/>
        </p:nvSpPr>
        <p:spPr>
          <a:xfrm>
            <a:off x="1097280" y="20116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Short supporting description goes here for context.</a:t>
            </a:r>
          </a:p>
        </p:txBody>
      </p:sp>
      <p:sp>
        <p:nvSpPr>
          <p:cNvPr id="10" name="Bullet_1"/>
          <p:cNvSpPr/>
          <p:nvPr/>
        </p:nvSpPr>
        <p:spPr>
          <a:xfrm>
            <a:off x="731520" y="2724912"/>
            <a:ext cx="146304" cy="146304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ulletTitle_1"/>
          <p:cNvSpPr txBox="1"/>
          <p:nvPr/>
        </p:nvSpPr>
        <p:spPr>
          <a:xfrm>
            <a:off x="1097280" y="259689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7247B"/>
                </a:solidFill>
                <a:latin typeface="Segoe UI"/>
              </a:rPr>
              <a:t>Clear Point Two</a:t>
            </a:r>
          </a:p>
        </p:txBody>
      </p:sp>
      <p:sp>
        <p:nvSpPr>
          <p:cNvPr id="12" name="BulletDesc_1"/>
          <p:cNvSpPr txBox="1"/>
          <p:nvPr/>
        </p:nvSpPr>
        <p:spPr>
          <a:xfrm>
            <a:off x="1097280" y="297180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Keep each line tight — one idea per row reads best.</a:t>
            </a:r>
          </a:p>
        </p:txBody>
      </p:sp>
      <p:sp>
        <p:nvSpPr>
          <p:cNvPr id="13" name="Bullet_2"/>
          <p:cNvSpPr/>
          <p:nvPr/>
        </p:nvSpPr>
        <p:spPr>
          <a:xfrm>
            <a:off x="731520" y="3685032"/>
            <a:ext cx="146304" cy="146304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lletTitle_2"/>
          <p:cNvSpPr txBox="1"/>
          <p:nvPr/>
        </p:nvSpPr>
        <p:spPr>
          <a:xfrm>
            <a:off x="1097280" y="3557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7247B"/>
                </a:solidFill>
                <a:latin typeface="Segoe UI"/>
              </a:rPr>
              <a:t>Clear Point Three</a:t>
            </a:r>
          </a:p>
        </p:txBody>
      </p:sp>
      <p:sp>
        <p:nvSpPr>
          <p:cNvPr id="15" name="BulletDesc_2"/>
          <p:cNvSpPr txBox="1"/>
          <p:nvPr/>
        </p:nvSpPr>
        <p:spPr>
          <a:xfrm>
            <a:off x="1097280" y="3931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Swap the icon colour to match the section's tone.</a:t>
            </a:r>
          </a:p>
        </p:txBody>
      </p:sp>
      <p:sp>
        <p:nvSpPr>
          <p:cNvPr id="16" name="Bullet_3"/>
          <p:cNvSpPr/>
          <p:nvPr/>
        </p:nvSpPr>
        <p:spPr>
          <a:xfrm>
            <a:off x="731520" y="4645152"/>
            <a:ext cx="146304" cy="146304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ulletTitle_3"/>
          <p:cNvSpPr txBox="1"/>
          <p:nvPr/>
        </p:nvSpPr>
        <p:spPr>
          <a:xfrm>
            <a:off x="1097280" y="451713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7247B"/>
                </a:solidFill>
                <a:latin typeface="Segoe UI"/>
              </a:rPr>
              <a:t>Clear Point Four</a:t>
            </a:r>
          </a:p>
        </p:txBody>
      </p:sp>
      <p:sp>
        <p:nvSpPr>
          <p:cNvPr id="18" name="BulletDesc_3"/>
          <p:cNvSpPr txBox="1"/>
          <p:nvPr/>
        </p:nvSpPr>
        <p:spPr>
          <a:xfrm>
            <a:off x="1097280" y="48920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58796"/>
                </a:solidFill>
                <a:latin typeface="Segoe UI"/>
              </a:rPr>
              <a:t>Duplicate this row to add as many points as needed.</a:t>
            </a:r>
          </a:p>
        </p:txBody>
      </p:sp>
      <p:sp>
        <p:nvSpPr>
          <p:cNvPr id="19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1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Comparing Two Options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Option A"/>
          <p:cNvSpPr/>
          <p:nvPr/>
        </p:nvSpPr>
        <p:spPr>
          <a:xfrm>
            <a:off x="548640" y="169164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Head_Option A"/>
          <p:cNvSpPr/>
          <p:nvPr/>
        </p:nvSpPr>
        <p:spPr>
          <a:xfrm>
            <a:off x="548640" y="1691640"/>
            <a:ext cx="5257800" cy="594360"/>
          </a:xfrm>
          <a:prstGeom prst="roundRect">
            <a:avLst>
              <a:gd name="adj" fmla="val 35000"/>
            </a:avLst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HeadTxt_Option A"/>
          <p:cNvSpPr txBox="1"/>
          <p:nvPr/>
        </p:nvSpPr>
        <p:spPr>
          <a:xfrm>
            <a:off x="548640" y="169164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Option A</a:t>
            </a:r>
          </a:p>
        </p:txBody>
      </p:sp>
      <p:sp>
        <p:nvSpPr>
          <p:cNvPr id="10" name="Dot_Option A_2.75"/>
          <p:cNvSpPr/>
          <p:nvPr/>
        </p:nvSpPr>
        <p:spPr>
          <a:xfrm>
            <a:off x="914400" y="2596896"/>
            <a:ext cx="109728" cy="109728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t_Option A_2.75"/>
          <p:cNvSpPr txBox="1"/>
          <p:nvPr/>
        </p:nvSpPr>
        <p:spPr>
          <a:xfrm>
            <a:off x="1188719" y="248716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one</a:t>
            </a:r>
          </a:p>
        </p:txBody>
      </p:sp>
      <p:sp>
        <p:nvSpPr>
          <p:cNvPr id="12" name="Dot_Option A_3.3"/>
          <p:cNvSpPr/>
          <p:nvPr/>
        </p:nvSpPr>
        <p:spPr>
          <a:xfrm>
            <a:off x="914400" y="3099815"/>
            <a:ext cx="109728" cy="109728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t_Option A_3.3"/>
          <p:cNvSpPr txBox="1"/>
          <p:nvPr/>
        </p:nvSpPr>
        <p:spPr>
          <a:xfrm>
            <a:off x="1188719" y="29900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two</a:t>
            </a:r>
          </a:p>
        </p:txBody>
      </p:sp>
      <p:sp>
        <p:nvSpPr>
          <p:cNvPr id="14" name="Dot_Option A_3.8499999999999996"/>
          <p:cNvSpPr/>
          <p:nvPr/>
        </p:nvSpPr>
        <p:spPr>
          <a:xfrm>
            <a:off x="914400" y="3602735"/>
            <a:ext cx="109728" cy="109728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t_Option A_3.8499999999999996"/>
          <p:cNvSpPr txBox="1"/>
          <p:nvPr/>
        </p:nvSpPr>
        <p:spPr>
          <a:xfrm>
            <a:off x="1188719" y="34930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three</a:t>
            </a:r>
          </a:p>
        </p:txBody>
      </p:sp>
      <p:sp>
        <p:nvSpPr>
          <p:cNvPr id="16" name="Dot_Option A_4.3999999999999995"/>
          <p:cNvSpPr/>
          <p:nvPr/>
        </p:nvSpPr>
        <p:spPr>
          <a:xfrm>
            <a:off x="914400" y="4105655"/>
            <a:ext cx="109728" cy="109728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t_Option A_4.3999999999999995"/>
          <p:cNvSpPr txBox="1"/>
          <p:nvPr/>
        </p:nvSpPr>
        <p:spPr>
          <a:xfrm>
            <a:off x="1188719" y="3995927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four</a:t>
            </a:r>
          </a:p>
        </p:txBody>
      </p:sp>
      <p:sp>
        <p:nvSpPr>
          <p:cNvPr id="18" name="Card_Option B"/>
          <p:cNvSpPr/>
          <p:nvPr/>
        </p:nvSpPr>
        <p:spPr>
          <a:xfrm>
            <a:off x="6355080" y="169164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Head_Option B"/>
          <p:cNvSpPr/>
          <p:nvPr/>
        </p:nvSpPr>
        <p:spPr>
          <a:xfrm>
            <a:off x="6355080" y="1691640"/>
            <a:ext cx="5257800" cy="594360"/>
          </a:xfrm>
          <a:prstGeom prst="roundRect">
            <a:avLst>
              <a:gd name="adj" fmla="val 35000"/>
            </a:avLst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HeadTxt_Option B"/>
          <p:cNvSpPr txBox="1"/>
          <p:nvPr/>
        </p:nvSpPr>
        <p:spPr>
          <a:xfrm>
            <a:off x="6355080" y="169164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Option B</a:t>
            </a:r>
          </a:p>
        </p:txBody>
      </p:sp>
      <p:sp>
        <p:nvSpPr>
          <p:cNvPr id="21" name="Dot_Option B_2.75"/>
          <p:cNvSpPr/>
          <p:nvPr/>
        </p:nvSpPr>
        <p:spPr>
          <a:xfrm>
            <a:off x="6720840" y="2596896"/>
            <a:ext cx="109728" cy="109728"/>
          </a:xfrm>
          <a:prstGeom prst="rect">
            <a:avLst/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t_Option B_2.75"/>
          <p:cNvSpPr txBox="1"/>
          <p:nvPr/>
        </p:nvSpPr>
        <p:spPr>
          <a:xfrm>
            <a:off x="6995160" y="248716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one</a:t>
            </a:r>
          </a:p>
        </p:txBody>
      </p:sp>
      <p:sp>
        <p:nvSpPr>
          <p:cNvPr id="23" name="Dot_Option B_3.3"/>
          <p:cNvSpPr/>
          <p:nvPr/>
        </p:nvSpPr>
        <p:spPr>
          <a:xfrm>
            <a:off x="6720840" y="3099815"/>
            <a:ext cx="109728" cy="109728"/>
          </a:xfrm>
          <a:prstGeom prst="rect">
            <a:avLst/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t_Option B_3.3"/>
          <p:cNvSpPr txBox="1"/>
          <p:nvPr/>
        </p:nvSpPr>
        <p:spPr>
          <a:xfrm>
            <a:off x="6995160" y="29900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two</a:t>
            </a:r>
          </a:p>
        </p:txBody>
      </p:sp>
      <p:sp>
        <p:nvSpPr>
          <p:cNvPr id="25" name="Dot_Option B_3.8499999999999996"/>
          <p:cNvSpPr/>
          <p:nvPr/>
        </p:nvSpPr>
        <p:spPr>
          <a:xfrm>
            <a:off x="6720840" y="3602735"/>
            <a:ext cx="109728" cy="109728"/>
          </a:xfrm>
          <a:prstGeom prst="rect">
            <a:avLst/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t_Option B_3.8499999999999996"/>
          <p:cNvSpPr txBox="1"/>
          <p:nvPr/>
        </p:nvSpPr>
        <p:spPr>
          <a:xfrm>
            <a:off x="6995160" y="34930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three</a:t>
            </a:r>
          </a:p>
        </p:txBody>
      </p:sp>
      <p:sp>
        <p:nvSpPr>
          <p:cNvPr id="27" name="Dot_Option B_4.3999999999999995"/>
          <p:cNvSpPr/>
          <p:nvPr/>
        </p:nvSpPr>
        <p:spPr>
          <a:xfrm>
            <a:off x="6720840" y="4105655"/>
            <a:ext cx="109728" cy="109728"/>
          </a:xfrm>
          <a:prstGeom prst="rect">
            <a:avLst/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t_Option B_4.3999999999999995"/>
          <p:cNvSpPr txBox="1"/>
          <p:nvPr/>
        </p:nvSpPr>
        <p:spPr>
          <a:xfrm>
            <a:off x="6995160" y="3995927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Feature or benefit four</a:t>
            </a:r>
          </a:p>
        </p:txBody>
      </p:sp>
      <p:sp>
        <p:nvSpPr>
          <p:cNvPr id="29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31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Image Plus Supporting Text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magePlaceholder"/>
          <p:cNvSpPr/>
          <p:nvPr/>
        </p:nvSpPr>
        <p:spPr>
          <a:xfrm>
            <a:off x="548640" y="178308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nIcon"/>
          <p:cNvSpPr/>
          <p:nvPr/>
        </p:nvSpPr>
        <p:spPr>
          <a:xfrm>
            <a:off x="4160520" y="214884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ountainIcon"/>
          <p:cNvSpPr/>
          <p:nvPr/>
        </p:nvSpPr>
        <p:spPr>
          <a:xfrm>
            <a:off x="1005840" y="3840480"/>
            <a:ext cx="2377440" cy="1554480"/>
          </a:xfrm>
          <a:prstGeom prst="triangle">
            <a:avLst/>
          </a:prstGeom>
          <a:solidFill>
            <a:srgbClr val="3D3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ountainIcon2"/>
          <p:cNvSpPr/>
          <p:nvPr/>
        </p:nvSpPr>
        <p:spPr>
          <a:xfrm>
            <a:off x="2651760" y="3291840"/>
            <a:ext cx="2651760" cy="2103120"/>
          </a:xfrm>
          <a:prstGeom prst="triangle">
            <a:avLst/>
          </a:prstGeom>
          <a:solidFill>
            <a:srgbClr val="2E2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mgLabel"/>
          <p:cNvSpPr txBox="1"/>
          <p:nvPr/>
        </p:nvSpPr>
        <p:spPr>
          <a:xfrm>
            <a:off x="548640" y="5349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DDFF0"/>
                </a:solidFill>
                <a:latin typeface="Segoe UI"/>
              </a:rPr>
              <a:t>Replace this placeholder with your image</a:t>
            </a:r>
          </a:p>
        </p:txBody>
      </p:sp>
      <p:sp>
        <p:nvSpPr>
          <p:cNvPr id="12" name="BodyHeading"/>
          <p:cNvSpPr txBox="1"/>
          <p:nvPr/>
        </p:nvSpPr>
        <p:spPr>
          <a:xfrm>
            <a:off x="6035040" y="182880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7247B"/>
                </a:solidFill>
                <a:latin typeface="Segoe UI"/>
              </a:rPr>
              <a:t>A supporting headline</a:t>
            </a:r>
          </a:p>
        </p:txBody>
      </p:sp>
      <p:sp>
        <p:nvSpPr>
          <p:cNvPr id="13" name="BodyPara"/>
          <p:cNvSpPr txBox="1"/>
          <p:nvPr/>
        </p:nvSpPr>
        <p:spPr>
          <a:xfrm>
            <a:off x="6035040" y="2423160"/>
            <a:ext cx="5577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D2D3A"/>
                </a:solidFill>
                <a:latin typeface="Segoe UI"/>
              </a:rPr>
              <a:t>Use this space for a short paragraph that explains the image, a program, or a milestone. Two to three sentences reads best.</a:t>
            </a:r>
          </a:p>
        </p:txBody>
      </p:sp>
      <p:sp>
        <p:nvSpPr>
          <p:cNvPr id="14" name="MiniDot_4.25"/>
          <p:cNvSpPr/>
          <p:nvPr/>
        </p:nvSpPr>
        <p:spPr>
          <a:xfrm>
            <a:off x="6035040" y="3959352"/>
            <a:ext cx="109728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iniTxt_4.25"/>
          <p:cNvSpPr txBox="1"/>
          <p:nvPr/>
        </p:nvSpPr>
        <p:spPr>
          <a:xfrm>
            <a:off x="6309360" y="38496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Supporting detail one</a:t>
            </a:r>
          </a:p>
        </p:txBody>
      </p:sp>
      <p:sp>
        <p:nvSpPr>
          <p:cNvPr id="16" name="MiniDot_4.8"/>
          <p:cNvSpPr/>
          <p:nvPr/>
        </p:nvSpPr>
        <p:spPr>
          <a:xfrm>
            <a:off x="6035040" y="4462272"/>
            <a:ext cx="109728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iniTxt_4.8"/>
          <p:cNvSpPr txBox="1"/>
          <p:nvPr/>
        </p:nvSpPr>
        <p:spPr>
          <a:xfrm>
            <a:off x="6309360" y="435254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Supporting detail two</a:t>
            </a:r>
          </a:p>
        </p:txBody>
      </p:sp>
      <p:sp>
        <p:nvSpPr>
          <p:cNvPr id="18" name="MiniDot_5.35"/>
          <p:cNvSpPr/>
          <p:nvPr/>
        </p:nvSpPr>
        <p:spPr>
          <a:xfrm>
            <a:off x="6035040" y="4965192"/>
            <a:ext cx="109728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iniTxt_5.35"/>
          <p:cNvSpPr txBox="1"/>
          <p:nvPr/>
        </p:nvSpPr>
        <p:spPr>
          <a:xfrm>
            <a:off x="6309360" y="485546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D3A"/>
                </a:solidFill>
                <a:latin typeface="Segoe UI"/>
              </a:rPr>
              <a:t>Supporting detail three</a:t>
            </a:r>
          </a:p>
        </p:txBody>
      </p:sp>
      <p:sp>
        <p:nvSpPr>
          <p:cNvPr id="20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2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QuoteMark"/>
          <p:cNvSpPr txBox="1"/>
          <p:nvPr/>
        </p:nvSpPr>
        <p:spPr>
          <a:xfrm>
            <a:off x="5120640" y="82296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0" b="1" i="0">
                <a:solidFill>
                  <a:srgbClr val="DDDFF0"/>
                </a:solidFill>
                <a:latin typeface="Segoe UI"/>
              </a:rPr>
              <a:t>“</a:t>
            </a:r>
          </a:p>
        </p:txBody>
      </p:sp>
      <p:sp>
        <p:nvSpPr>
          <p:cNvPr id="4" name="QuoteText"/>
          <p:cNvSpPr txBox="1"/>
          <p:nvPr/>
        </p:nvSpPr>
        <p:spPr>
          <a:xfrm>
            <a:off x="1737360" y="2606040"/>
            <a:ext cx="8686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1">
                <a:solidFill>
                  <a:srgbClr val="27247B"/>
                </a:solidFill>
                <a:latin typeface="Segoe UI"/>
              </a:rPr>
              <a:t>Great hospitality is remembered</a:t>
            </a:r>
          </a:p>
          <a:p>
            <a:pPr algn="ctr">
              <a:lnSpc>
                <a:spcPct val="125000"/>
              </a:lnSpc>
            </a:pPr>
            <a:r>
              <a:rPr sz="2600" b="0" i="1">
                <a:solidFill>
                  <a:srgbClr val="27247B"/>
                </a:solidFill>
                <a:latin typeface="Segoe UI"/>
              </a:rPr>
              <a:t>long after the stay is over.</a:t>
            </a:r>
          </a:p>
        </p:txBody>
      </p:sp>
      <p:sp>
        <p:nvSpPr>
          <p:cNvPr id="5" name="QuoteLine"/>
          <p:cNvSpPr/>
          <p:nvPr/>
        </p:nvSpPr>
        <p:spPr>
          <a:xfrm>
            <a:off x="5641848" y="4343400"/>
            <a:ext cx="914400" cy="41148"/>
          </a:xfrm>
          <a:prstGeom prst="rect">
            <a:avLst/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Attr"/>
          <p:cNvSpPr txBox="1"/>
          <p:nvPr/>
        </p:nvSpPr>
        <p:spPr>
          <a:xfrm>
            <a:off x="1965960" y="4480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79C07"/>
                </a:solidFill>
                <a:latin typeface="Segoe UI"/>
              </a:rPr>
              <a:t>— Name Surname, Title / Organisation</a:t>
            </a:r>
          </a:p>
        </p:txBody>
      </p:sp>
      <p:sp>
        <p:nvSpPr>
          <p:cNvPr id="7" name="AccentCircle"/>
          <p:cNvSpPr/>
          <p:nvPr/>
        </p:nvSpPr>
        <p:spPr>
          <a:xfrm>
            <a:off x="5852160" y="5486400"/>
            <a:ext cx="502920" cy="50292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10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By The Numbers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Card_0"/>
          <p:cNvSpPr/>
          <p:nvPr/>
        </p:nvSpPr>
        <p:spPr>
          <a:xfrm>
            <a:off x="640080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Top_0"/>
          <p:cNvSpPr/>
          <p:nvPr/>
        </p:nvSpPr>
        <p:spPr>
          <a:xfrm>
            <a:off x="640080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Num_0"/>
          <p:cNvSpPr txBox="1"/>
          <p:nvPr/>
        </p:nvSpPr>
        <p:spPr>
          <a:xfrm>
            <a:off x="640080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27247B"/>
                </a:solidFill>
                <a:latin typeface="Segoe UI"/>
              </a:rPr>
              <a:t>120+</a:t>
            </a:r>
          </a:p>
        </p:txBody>
      </p:sp>
      <p:sp>
        <p:nvSpPr>
          <p:cNvPr id="10" name="StatLabel_0"/>
          <p:cNvSpPr txBox="1"/>
          <p:nvPr/>
        </p:nvSpPr>
        <p:spPr>
          <a:xfrm>
            <a:off x="640080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Member Hotels</a:t>
            </a:r>
          </a:p>
        </p:txBody>
      </p:sp>
      <p:sp>
        <p:nvSpPr>
          <p:cNvPr id="11" name="StatCard_1"/>
          <p:cNvSpPr/>
          <p:nvPr/>
        </p:nvSpPr>
        <p:spPr>
          <a:xfrm>
            <a:off x="3364991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Top_1"/>
          <p:cNvSpPr/>
          <p:nvPr/>
        </p:nvSpPr>
        <p:spPr>
          <a:xfrm>
            <a:off x="3364991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Num_1"/>
          <p:cNvSpPr txBox="1"/>
          <p:nvPr/>
        </p:nvSpPr>
        <p:spPr>
          <a:xfrm>
            <a:off x="3364991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D79C07"/>
                </a:solidFill>
                <a:latin typeface="Segoe UI"/>
              </a:rPr>
              <a:t>35</a:t>
            </a:r>
          </a:p>
        </p:txBody>
      </p:sp>
      <p:sp>
        <p:nvSpPr>
          <p:cNvPr id="14" name="StatLabel_1"/>
          <p:cNvSpPr txBox="1"/>
          <p:nvPr/>
        </p:nvSpPr>
        <p:spPr>
          <a:xfrm>
            <a:off x="3364991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Countries</a:t>
            </a:r>
          </a:p>
        </p:txBody>
      </p:sp>
      <p:sp>
        <p:nvSpPr>
          <p:cNvPr id="15" name="StatCard_2"/>
          <p:cNvSpPr/>
          <p:nvPr/>
        </p:nvSpPr>
        <p:spPr>
          <a:xfrm>
            <a:off x="6089904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Top_2"/>
          <p:cNvSpPr/>
          <p:nvPr/>
        </p:nvSpPr>
        <p:spPr>
          <a:xfrm>
            <a:off x="6089904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4E7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Num_2"/>
          <p:cNvSpPr txBox="1"/>
          <p:nvPr/>
        </p:nvSpPr>
        <p:spPr>
          <a:xfrm>
            <a:off x="6089904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4E73DF"/>
                </a:solidFill>
                <a:latin typeface="Segoe UI"/>
              </a:rPr>
              <a:t>18</a:t>
            </a:r>
          </a:p>
        </p:txBody>
      </p:sp>
      <p:sp>
        <p:nvSpPr>
          <p:cNvPr id="18" name="StatLabel_2"/>
          <p:cNvSpPr txBox="1"/>
          <p:nvPr/>
        </p:nvSpPr>
        <p:spPr>
          <a:xfrm>
            <a:off x="6089904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Years Running</a:t>
            </a:r>
          </a:p>
        </p:txBody>
      </p:sp>
      <p:sp>
        <p:nvSpPr>
          <p:cNvPr id="19" name="StatCard_3"/>
          <p:cNvSpPr/>
          <p:nvPr/>
        </p:nvSpPr>
        <p:spPr>
          <a:xfrm>
            <a:off x="8814816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Top_3"/>
          <p:cNvSpPr/>
          <p:nvPr/>
        </p:nvSpPr>
        <p:spPr>
          <a:xfrm>
            <a:off x="8814816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Num_3"/>
          <p:cNvSpPr txBox="1"/>
          <p:nvPr/>
        </p:nvSpPr>
        <p:spPr>
          <a:xfrm>
            <a:off x="8814816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27247B"/>
                </a:solidFill>
                <a:latin typeface="Segoe UI"/>
              </a:rPr>
              <a:t>4.9</a:t>
            </a:r>
          </a:p>
        </p:txBody>
      </p:sp>
      <p:sp>
        <p:nvSpPr>
          <p:cNvPr id="22" name="StatLabel_3"/>
          <p:cNvSpPr txBox="1"/>
          <p:nvPr/>
        </p:nvSpPr>
        <p:spPr>
          <a:xfrm>
            <a:off x="8814816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Guest Rating</a:t>
            </a:r>
          </a:p>
        </p:txBody>
      </p:sp>
      <p:sp>
        <p:nvSpPr>
          <p:cNvPr id="23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5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Our Process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Line"/>
          <p:cNvSpPr/>
          <p:nvPr/>
        </p:nvSpPr>
        <p:spPr>
          <a:xfrm>
            <a:off x="1463040" y="3520440"/>
            <a:ext cx="9235440" cy="45720"/>
          </a:xfrm>
          <a:prstGeom prst="rect">
            <a:avLst/>
          </a:prstGeom>
          <a:solidFill>
            <a:srgbClr val="DD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Circle_0"/>
          <p:cNvSpPr/>
          <p:nvPr/>
        </p:nvSpPr>
        <p:spPr>
          <a:xfrm>
            <a:off x="1234440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Num_0"/>
          <p:cNvSpPr txBox="1"/>
          <p:nvPr/>
        </p:nvSpPr>
        <p:spPr>
          <a:xfrm>
            <a:off x="1234440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1</a:t>
            </a:r>
          </a:p>
        </p:txBody>
      </p:sp>
      <p:sp>
        <p:nvSpPr>
          <p:cNvPr id="10" name="StepLabel_0"/>
          <p:cNvSpPr txBox="1"/>
          <p:nvPr/>
        </p:nvSpPr>
        <p:spPr>
          <a:xfrm>
            <a:off x="640080" y="4069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7247B"/>
                </a:solidFill>
                <a:latin typeface="Segoe UI"/>
              </a:rPr>
              <a:t>Apply</a:t>
            </a:r>
          </a:p>
        </p:txBody>
      </p:sp>
      <p:sp>
        <p:nvSpPr>
          <p:cNvPr id="11" name="ItemCircle_1"/>
          <p:cNvSpPr/>
          <p:nvPr/>
        </p:nvSpPr>
        <p:spPr>
          <a:xfrm>
            <a:off x="3858768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Num_1"/>
          <p:cNvSpPr txBox="1"/>
          <p:nvPr/>
        </p:nvSpPr>
        <p:spPr>
          <a:xfrm>
            <a:off x="3858768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2</a:t>
            </a:r>
          </a:p>
        </p:txBody>
      </p:sp>
      <p:sp>
        <p:nvSpPr>
          <p:cNvPr id="13" name="StepLabel_1"/>
          <p:cNvSpPr txBox="1"/>
          <p:nvPr/>
        </p:nvSpPr>
        <p:spPr>
          <a:xfrm>
            <a:off x="3264408" y="4069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7247B"/>
                </a:solidFill>
                <a:latin typeface="Segoe UI"/>
              </a:rPr>
              <a:t>Review</a:t>
            </a:r>
          </a:p>
        </p:txBody>
      </p:sp>
      <p:sp>
        <p:nvSpPr>
          <p:cNvPr id="14" name="ItemCircle_2"/>
          <p:cNvSpPr/>
          <p:nvPr/>
        </p:nvSpPr>
        <p:spPr>
          <a:xfrm>
            <a:off x="6483096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Num_2"/>
          <p:cNvSpPr txBox="1"/>
          <p:nvPr/>
        </p:nvSpPr>
        <p:spPr>
          <a:xfrm>
            <a:off x="6483096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3</a:t>
            </a:r>
          </a:p>
        </p:txBody>
      </p:sp>
      <p:sp>
        <p:nvSpPr>
          <p:cNvPr id="16" name="StepLabel_2"/>
          <p:cNvSpPr txBox="1"/>
          <p:nvPr/>
        </p:nvSpPr>
        <p:spPr>
          <a:xfrm>
            <a:off x="5888736" y="4069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7247B"/>
                </a:solidFill>
                <a:latin typeface="Segoe UI"/>
              </a:rPr>
              <a:t>Onboard</a:t>
            </a:r>
          </a:p>
        </p:txBody>
      </p:sp>
      <p:sp>
        <p:nvSpPr>
          <p:cNvPr id="17" name="ItemCircle_3"/>
          <p:cNvSpPr/>
          <p:nvPr/>
        </p:nvSpPr>
        <p:spPr>
          <a:xfrm>
            <a:off x="9107424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Num_3"/>
          <p:cNvSpPr txBox="1"/>
          <p:nvPr/>
        </p:nvSpPr>
        <p:spPr>
          <a:xfrm>
            <a:off x="9107424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4</a:t>
            </a:r>
          </a:p>
        </p:txBody>
      </p:sp>
      <p:sp>
        <p:nvSpPr>
          <p:cNvPr id="19" name="StepLabel_3"/>
          <p:cNvSpPr txBox="1"/>
          <p:nvPr/>
        </p:nvSpPr>
        <p:spPr>
          <a:xfrm>
            <a:off x="8513064" y="4069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7247B"/>
                </a:solidFill>
                <a:latin typeface="Segoe UI"/>
              </a:rPr>
              <a:t>Celebrate</a:t>
            </a:r>
          </a:p>
        </p:txBody>
      </p:sp>
      <p:sp>
        <p:nvSpPr>
          <p:cNvPr id="20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2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7247B"/>
              </a:gs>
              <a:gs pos="100000">
                <a:srgbClr val="1A186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Circle"/>
          <p:cNvSpPr/>
          <p:nvPr/>
        </p:nvSpPr>
        <p:spPr>
          <a:xfrm>
            <a:off x="-2103120" y="4709160"/>
            <a:ext cx="4389120" cy="438912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ngOutline"/>
          <p:cNvSpPr/>
          <p:nvPr/>
        </p:nvSpPr>
        <p:spPr>
          <a:xfrm>
            <a:off x="8961120" y="-1828800"/>
            <a:ext cx="4572000" cy="4572000"/>
          </a:xfrm>
          <a:prstGeom prst="ellipse">
            <a:avLst/>
          </a:prstGeom>
          <a:noFill/>
          <a:ln w="25400">
            <a:solidFill>
              <a:srgbClr val="4E7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Line"/>
          <p:cNvSpPr/>
          <p:nvPr/>
        </p:nvSpPr>
        <p:spPr>
          <a:xfrm>
            <a:off x="914400" y="2331720"/>
            <a:ext cx="502920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ickerText"/>
          <p:cNvSpPr txBox="1"/>
          <p:nvPr/>
        </p:nvSpPr>
        <p:spPr>
          <a:xfrm>
            <a:off x="914400" y="24414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B05"/>
                </a:solidFill>
                <a:latin typeface="Segoe UI"/>
              </a:rPr>
              <a:t>SECTION 03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914400" y="2697480"/>
            <a:ext cx="8961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Security Testing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914400" y="370332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DDDFF0"/>
                </a:solidFill>
                <a:latin typeface="Segoe UI"/>
              </a:rPr>
              <a:t>A full audit of the ARDE Admin &amp; Public platforms — what we tested,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DDDFF0"/>
                </a:solidFill>
                <a:latin typeface="Segoe UI"/>
              </a:rPr>
              <a:t>what we found, and what it means.</a:t>
            </a:r>
          </a:p>
        </p:txBody>
      </p:sp>
      <p:sp>
        <p:nvSpPr>
          <p:cNvPr id="9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11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CB0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Our Testing Methodology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Line"/>
          <p:cNvSpPr/>
          <p:nvPr/>
        </p:nvSpPr>
        <p:spPr>
          <a:xfrm>
            <a:off x="1463040" y="3520440"/>
            <a:ext cx="9235440" cy="45720"/>
          </a:xfrm>
          <a:prstGeom prst="rect">
            <a:avLst/>
          </a:prstGeom>
          <a:solidFill>
            <a:srgbClr val="DD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Circle_0"/>
          <p:cNvSpPr/>
          <p:nvPr/>
        </p:nvSpPr>
        <p:spPr>
          <a:xfrm>
            <a:off x="1234440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Num_0"/>
          <p:cNvSpPr txBox="1"/>
          <p:nvPr/>
        </p:nvSpPr>
        <p:spPr>
          <a:xfrm>
            <a:off x="1234440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1</a:t>
            </a:r>
          </a:p>
        </p:txBody>
      </p:sp>
      <p:sp>
        <p:nvSpPr>
          <p:cNvPr id="10" name="StepLabel_0"/>
          <p:cNvSpPr txBox="1"/>
          <p:nvPr/>
        </p:nvSpPr>
        <p:spPr>
          <a:xfrm>
            <a:off x="548640" y="4069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7247B"/>
                </a:solidFill>
                <a:latin typeface="Segoe UI"/>
              </a:rPr>
              <a:t>Recon</a:t>
            </a:r>
          </a:p>
        </p:txBody>
      </p:sp>
      <p:sp>
        <p:nvSpPr>
          <p:cNvPr id="11" name="ItemCircle_1"/>
          <p:cNvSpPr/>
          <p:nvPr/>
        </p:nvSpPr>
        <p:spPr>
          <a:xfrm>
            <a:off x="3858768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Num_1"/>
          <p:cNvSpPr txBox="1"/>
          <p:nvPr/>
        </p:nvSpPr>
        <p:spPr>
          <a:xfrm>
            <a:off x="3858768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2</a:t>
            </a:r>
          </a:p>
        </p:txBody>
      </p:sp>
      <p:sp>
        <p:nvSpPr>
          <p:cNvPr id="13" name="StepLabel_1"/>
          <p:cNvSpPr txBox="1"/>
          <p:nvPr/>
        </p:nvSpPr>
        <p:spPr>
          <a:xfrm>
            <a:off x="3172968" y="4069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7247B"/>
                </a:solidFill>
                <a:latin typeface="Segoe UI"/>
              </a:rPr>
              <a:t>Static &amp; Dep. Scan</a:t>
            </a:r>
          </a:p>
        </p:txBody>
      </p:sp>
      <p:sp>
        <p:nvSpPr>
          <p:cNvPr id="14" name="ItemCircle_2"/>
          <p:cNvSpPr/>
          <p:nvPr/>
        </p:nvSpPr>
        <p:spPr>
          <a:xfrm>
            <a:off x="6483096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Num_2"/>
          <p:cNvSpPr txBox="1"/>
          <p:nvPr/>
        </p:nvSpPr>
        <p:spPr>
          <a:xfrm>
            <a:off x="6483096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3</a:t>
            </a:r>
          </a:p>
        </p:txBody>
      </p:sp>
      <p:sp>
        <p:nvSpPr>
          <p:cNvPr id="16" name="StepLabel_2"/>
          <p:cNvSpPr txBox="1"/>
          <p:nvPr/>
        </p:nvSpPr>
        <p:spPr>
          <a:xfrm>
            <a:off x="5797296" y="4069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7247B"/>
                </a:solidFill>
                <a:latin typeface="Segoe UI"/>
              </a:rPr>
              <a:t>Dynamic Testing</a:t>
            </a:r>
          </a:p>
        </p:txBody>
      </p:sp>
      <p:sp>
        <p:nvSpPr>
          <p:cNvPr id="17" name="ItemCircle_3"/>
          <p:cNvSpPr/>
          <p:nvPr/>
        </p:nvSpPr>
        <p:spPr>
          <a:xfrm>
            <a:off x="9107424" y="3246120"/>
            <a:ext cx="640080" cy="64008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Num_3"/>
          <p:cNvSpPr txBox="1"/>
          <p:nvPr/>
        </p:nvSpPr>
        <p:spPr>
          <a:xfrm>
            <a:off x="9107424" y="3246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7247B"/>
                </a:solidFill>
                <a:latin typeface="Segoe UI"/>
              </a:rPr>
              <a:t>4</a:t>
            </a:r>
          </a:p>
        </p:txBody>
      </p:sp>
      <p:sp>
        <p:nvSpPr>
          <p:cNvPr id="19" name="StepLabel_3"/>
          <p:cNvSpPr txBox="1"/>
          <p:nvPr/>
        </p:nvSpPr>
        <p:spPr>
          <a:xfrm>
            <a:off x="8421624" y="4069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7247B"/>
                </a:solidFill>
                <a:latin typeface="Segoe UI"/>
              </a:rPr>
              <a:t>Report &amp; Fix</a:t>
            </a:r>
          </a:p>
        </p:txBody>
      </p:sp>
      <p:sp>
        <p:nvSpPr>
          <p:cNvPr id="20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2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Audit at a Glance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Card_0"/>
          <p:cNvSpPr/>
          <p:nvPr/>
        </p:nvSpPr>
        <p:spPr>
          <a:xfrm>
            <a:off x="640080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Top_0"/>
          <p:cNvSpPr/>
          <p:nvPr/>
        </p:nvSpPr>
        <p:spPr>
          <a:xfrm>
            <a:off x="640080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Num_0"/>
          <p:cNvSpPr txBox="1"/>
          <p:nvPr/>
        </p:nvSpPr>
        <p:spPr>
          <a:xfrm>
            <a:off x="640080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27247B"/>
                </a:solidFill>
                <a:latin typeface="Segoe UI"/>
              </a:rPr>
              <a:t>4</a:t>
            </a:r>
          </a:p>
        </p:txBody>
      </p:sp>
      <p:sp>
        <p:nvSpPr>
          <p:cNvPr id="10" name="StatLabel_0"/>
          <p:cNvSpPr txBox="1"/>
          <p:nvPr/>
        </p:nvSpPr>
        <p:spPr>
          <a:xfrm>
            <a:off x="640080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CVEs Flagged (npm audit)</a:t>
            </a:r>
          </a:p>
        </p:txBody>
      </p:sp>
      <p:sp>
        <p:nvSpPr>
          <p:cNvPr id="11" name="StatCard_1"/>
          <p:cNvSpPr/>
          <p:nvPr/>
        </p:nvSpPr>
        <p:spPr>
          <a:xfrm>
            <a:off x="3364991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Top_1"/>
          <p:cNvSpPr/>
          <p:nvPr/>
        </p:nvSpPr>
        <p:spPr>
          <a:xfrm>
            <a:off x="3364991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Num_1"/>
          <p:cNvSpPr txBox="1"/>
          <p:nvPr/>
        </p:nvSpPr>
        <p:spPr>
          <a:xfrm>
            <a:off x="3364991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D79C07"/>
                </a:solidFill>
                <a:latin typeface="Segoe UI"/>
              </a:rPr>
              <a:t>60+</a:t>
            </a:r>
          </a:p>
        </p:txBody>
      </p:sp>
      <p:sp>
        <p:nvSpPr>
          <p:cNvPr id="14" name="StatLabel_1"/>
          <p:cNvSpPr txBox="1"/>
          <p:nvPr/>
        </p:nvSpPr>
        <p:spPr>
          <a:xfrm>
            <a:off x="3364991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Routes Reviewed</a:t>
            </a:r>
          </a:p>
        </p:txBody>
      </p:sp>
      <p:sp>
        <p:nvSpPr>
          <p:cNvPr id="15" name="StatCard_2"/>
          <p:cNvSpPr/>
          <p:nvPr/>
        </p:nvSpPr>
        <p:spPr>
          <a:xfrm>
            <a:off x="6089904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Top_2"/>
          <p:cNvSpPr/>
          <p:nvPr/>
        </p:nvSpPr>
        <p:spPr>
          <a:xfrm>
            <a:off x="6089904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4E7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Num_2"/>
          <p:cNvSpPr txBox="1"/>
          <p:nvPr/>
        </p:nvSpPr>
        <p:spPr>
          <a:xfrm>
            <a:off x="6089904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4E73DF"/>
                </a:solidFill>
                <a:latin typeface="Segoe UI"/>
              </a:rPr>
              <a:t>121</a:t>
            </a:r>
          </a:p>
        </p:txBody>
      </p:sp>
      <p:sp>
        <p:nvSpPr>
          <p:cNvPr id="18" name="StatLabel_2"/>
          <p:cNvSpPr txBox="1"/>
          <p:nvPr/>
        </p:nvSpPr>
        <p:spPr>
          <a:xfrm>
            <a:off x="6089904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DB Queries Checked</a:t>
            </a:r>
          </a:p>
        </p:txBody>
      </p:sp>
      <p:sp>
        <p:nvSpPr>
          <p:cNvPr id="19" name="StatCard_3"/>
          <p:cNvSpPr/>
          <p:nvPr/>
        </p:nvSpPr>
        <p:spPr>
          <a:xfrm>
            <a:off x="8814816" y="1920240"/>
            <a:ext cx="2514600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Top_3"/>
          <p:cNvSpPr/>
          <p:nvPr/>
        </p:nvSpPr>
        <p:spPr>
          <a:xfrm>
            <a:off x="8814816" y="1920240"/>
            <a:ext cx="2514600" cy="10972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Num_3"/>
          <p:cNvSpPr txBox="1"/>
          <p:nvPr/>
        </p:nvSpPr>
        <p:spPr>
          <a:xfrm>
            <a:off x="8814816" y="274320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2E7D32"/>
                </a:solidFill>
                <a:latin typeface="Segoe UI"/>
              </a:rPr>
              <a:t>0</a:t>
            </a:r>
          </a:p>
        </p:txBody>
      </p:sp>
      <p:sp>
        <p:nvSpPr>
          <p:cNvPr id="22" name="StatLabel_3"/>
          <p:cNvSpPr txBox="1"/>
          <p:nvPr/>
        </p:nvSpPr>
        <p:spPr>
          <a:xfrm>
            <a:off x="8814816" y="3703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58796"/>
                </a:solidFill>
                <a:latin typeface="Segoe UI"/>
              </a:rPr>
              <a:t>Confirmed SQL Injections</a:t>
            </a:r>
          </a:p>
        </p:txBody>
      </p:sp>
      <p:sp>
        <p:nvSpPr>
          <p:cNvPr id="23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5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Key Findings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v_1.78"/>
          <p:cNvSpPr/>
          <p:nvPr/>
        </p:nvSpPr>
        <p:spPr>
          <a:xfrm>
            <a:off x="731520" y="1627632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v_1.78_txt"/>
          <p:cNvSpPr txBox="1"/>
          <p:nvPr/>
        </p:nvSpPr>
        <p:spPr>
          <a:xfrm>
            <a:off x="731520" y="1627632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9" name="FindTitle_1.78"/>
          <p:cNvSpPr txBox="1"/>
          <p:nvPr/>
        </p:nvSpPr>
        <p:spPr>
          <a:xfrm>
            <a:off x="1965960" y="157276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7247B"/>
                </a:solidFill>
                <a:latin typeface="Segoe UI"/>
              </a:rPr>
              <a:t>Secrets Committed to Git</a:t>
            </a:r>
          </a:p>
        </p:txBody>
      </p:sp>
      <p:sp>
        <p:nvSpPr>
          <p:cNvPr id="10" name="FindDesc_1.78"/>
          <p:cNvSpPr txBox="1"/>
          <p:nvPr/>
        </p:nvSpPr>
        <p:spPr>
          <a:xfrm>
            <a:off x="1965960" y="1956816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58796"/>
                </a:solidFill>
                <a:latin typeface="Segoe UI"/>
              </a:rPr>
              <a:t>.env with live DB, session &amp; Cloudinary credentials is tracked in git history, in both repos, with no .gitignore.</a:t>
            </a:r>
          </a:p>
        </p:txBody>
      </p:sp>
      <p:sp>
        <p:nvSpPr>
          <p:cNvPr id="11" name="Sev_2.88"/>
          <p:cNvSpPr/>
          <p:nvPr/>
        </p:nvSpPr>
        <p:spPr>
          <a:xfrm>
            <a:off x="731520" y="2633472"/>
            <a:ext cx="539496" cy="274320"/>
          </a:xfrm>
          <a:prstGeom prst="roundRect">
            <a:avLst>
              <a:gd name="adj" fmla="val 50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v_2.88_txt"/>
          <p:cNvSpPr txBox="1"/>
          <p:nvPr/>
        </p:nvSpPr>
        <p:spPr>
          <a:xfrm>
            <a:off x="731520" y="2633472"/>
            <a:ext cx="539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3" name="FindTitle_2.88"/>
          <p:cNvSpPr txBox="1"/>
          <p:nvPr/>
        </p:nvSpPr>
        <p:spPr>
          <a:xfrm>
            <a:off x="1965960" y="257860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7247B"/>
                </a:solidFill>
                <a:latin typeface="Segoe UI"/>
              </a:rPr>
              <a:t>Password Hash Exposed Client-Side</a:t>
            </a:r>
          </a:p>
        </p:txBody>
      </p:sp>
      <p:sp>
        <p:nvSpPr>
          <p:cNvPr id="14" name="FindDesc_2.88"/>
          <p:cNvSpPr txBox="1"/>
          <p:nvPr/>
        </p:nvSpPr>
        <p:spPr>
          <a:xfrm>
            <a:off x="1965960" y="2962656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58796"/>
                </a:solidFill>
                <a:latin typeface="Segoe UI"/>
              </a:rPr>
              <a:t>cookie-session stores the full admin record — including the bcrypt hash — inside a signed but unencrypted cookie.</a:t>
            </a:r>
          </a:p>
        </p:txBody>
      </p:sp>
      <p:sp>
        <p:nvSpPr>
          <p:cNvPr id="15" name="Sev_3.98"/>
          <p:cNvSpPr/>
          <p:nvPr/>
        </p:nvSpPr>
        <p:spPr>
          <a:xfrm>
            <a:off x="731520" y="3639312"/>
            <a:ext cx="539496" cy="274320"/>
          </a:xfrm>
          <a:prstGeom prst="roundRect">
            <a:avLst>
              <a:gd name="adj" fmla="val 50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v_3.98_txt"/>
          <p:cNvSpPr txBox="1"/>
          <p:nvPr/>
        </p:nvSpPr>
        <p:spPr>
          <a:xfrm>
            <a:off x="731520" y="3639312"/>
            <a:ext cx="539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7" name="FindTitle_3.98"/>
          <p:cNvSpPr txBox="1"/>
          <p:nvPr/>
        </p:nvSpPr>
        <p:spPr>
          <a:xfrm>
            <a:off x="1965960" y="358444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7247B"/>
                </a:solidFill>
                <a:latin typeface="Segoe UI"/>
              </a:rPr>
              <a:t>Vulnerable Dependencies</a:t>
            </a:r>
          </a:p>
        </p:txBody>
      </p:sp>
      <p:sp>
        <p:nvSpPr>
          <p:cNvPr id="18" name="FindDesc_3.98"/>
          <p:cNvSpPr txBox="1"/>
          <p:nvPr/>
        </p:nvSpPr>
        <p:spPr>
          <a:xfrm>
            <a:off x="1965960" y="3968496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58796"/>
                </a:solidFill>
                <a:latin typeface="Segoe UI"/>
              </a:rPr>
              <a:t>npm audit flags 4 CVEs: a Cloudinary SDK argument-injection bug and two Multer DoS issues, in both repos.</a:t>
            </a:r>
          </a:p>
        </p:txBody>
      </p:sp>
      <p:sp>
        <p:nvSpPr>
          <p:cNvPr id="19" name="Sev_5.08"/>
          <p:cNvSpPr/>
          <p:nvPr/>
        </p:nvSpPr>
        <p:spPr>
          <a:xfrm>
            <a:off x="731520" y="4645152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4E7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v_5.08_txt"/>
          <p:cNvSpPr txBox="1"/>
          <p:nvPr/>
        </p:nvSpPr>
        <p:spPr>
          <a:xfrm>
            <a:off x="731520" y="4645152"/>
            <a:ext cx="7406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MEDIUM</a:t>
            </a:r>
          </a:p>
        </p:txBody>
      </p:sp>
      <p:sp>
        <p:nvSpPr>
          <p:cNvPr id="21" name="FindTitle_5.08"/>
          <p:cNvSpPr txBox="1"/>
          <p:nvPr/>
        </p:nvSpPr>
        <p:spPr>
          <a:xfrm>
            <a:off x="1965960" y="459028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7247B"/>
                </a:solidFill>
                <a:latin typeface="Segoe UI"/>
              </a:rPr>
              <a:t>No Login Rate Limiting</a:t>
            </a:r>
          </a:p>
        </p:txBody>
      </p:sp>
      <p:sp>
        <p:nvSpPr>
          <p:cNvPr id="22" name="FindDesc_5.08"/>
          <p:cNvSpPr txBox="1"/>
          <p:nvPr/>
        </p:nvSpPr>
        <p:spPr>
          <a:xfrm>
            <a:off x="1965960" y="4974336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58796"/>
                </a:solidFill>
                <a:latin typeface="Segoe UI"/>
              </a:rPr>
              <a:t>/login accepts unlimited attempts with no lockout, throttling, or CAPTCHA — brute-forceable.</a:t>
            </a:r>
          </a:p>
        </p:txBody>
      </p:sp>
      <p:sp>
        <p:nvSpPr>
          <p:cNvPr id="23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5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Before vs. After Remediation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Before"/>
          <p:cNvSpPr/>
          <p:nvPr/>
        </p:nvSpPr>
        <p:spPr>
          <a:xfrm>
            <a:off x="548640" y="169164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Head_Before"/>
          <p:cNvSpPr/>
          <p:nvPr/>
        </p:nvSpPr>
        <p:spPr>
          <a:xfrm>
            <a:off x="548640" y="1691640"/>
            <a:ext cx="5257800" cy="594360"/>
          </a:xfrm>
          <a:prstGeom prst="roundRect">
            <a:avLst>
              <a:gd name="adj" fmla="val 35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HeadTxt_Before"/>
          <p:cNvSpPr txBox="1"/>
          <p:nvPr/>
        </p:nvSpPr>
        <p:spPr>
          <a:xfrm>
            <a:off x="548640" y="169164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Before</a:t>
            </a:r>
          </a:p>
        </p:txBody>
      </p:sp>
      <p:sp>
        <p:nvSpPr>
          <p:cNvPr id="10" name="Dot_Before_2.75"/>
          <p:cNvSpPr/>
          <p:nvPr/>
        </p:nvSpPr>
        <p:spPr>
          <a:xfrm>
            <a:off x="914400" y="2596896"/>
            <a:ext cx="109728" cy="1097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t_Before_2.75"/>
          <p:cNvSpPr txBox="1"/>
          <p:nvPr/>
        </p:nvSpPr>
        <p:spPr>
          <a:xfrm>
            <a:off x="1188719" y="24871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Full admin record (password hash) held in session cookie</a:t>
            </a:r>
          </a:p>
        </p:txBody>
      </p:sp>
      <p:sp>
        <p:nvSpPr>
          <p:cNvPr id="12" name="Dot_Before_3.5"/>
          <p:cNvSpPr/>
          <p:nvPr/>
        </p:nvSpPr>
        <p:spPr>
          <a:xfrm>
            <a:off x="914400" y="3282696"/>
            <a:ext cx="109728" cy="1097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t_Before_3.5"/>
          <p:cNvSpPr txBox="1"/>
          <p:nvPr/>
        </p:nvSpPr>
        <p:spPr>
          <a:xfrm>
            <a:off x="1188719" y="31729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.env with live credentials committed to git</a:t>
            </a:r>
          </a:p>
        </p:txBody>
      </p:sp>
      <p:sp>
        <p:nvSpPr>
          <p:cNvPr id="14" name="Dot_Before_4.25"/>
          <p:cNvSpPr/>
          <p:nvPr/>
        </p:nvSpPr>
        <p:spPr>
          <a:xfrm>
            <a:off x="914400" y="3968496"/>
            <a:ext cx="109728" cy="1097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t_Before_4.25"/>
          <p:cNvSpPr txBox="1"/>
          <p:nvPr/>
        </p:nvSpPr>
        <p:spPr>
          <a:xfrm>
            <a:off x="1188719" y="38587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No rate limit on /login</a:t>
            </a:r>
          </a:p>
        </p:txBody>
      </p:sp>
      <p:sp>
        <p:nvSpPr>
          <p:cNvPr id="16" name="Dot_Before_5.0"/>
          <p:cNvSpPr/>
          <p:nvPr/>
        </p:nvSpPr>
        <p:spPr>
          <a:xfrm>
            <a:off x="914400" y="4654296"/>
            <a:ext cx="109728" cy="10972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t_Before_5.0"/>
          <p:cNvSpPr txBox="1"/>
          <p:nvPr/>
        </p:nvSpPr>
        <p:spPr>
          <a:xfrm>
            <a:off x="1188719" y="45445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Cloudinary &amp; Multer on vulnerable versions</a:t>
            </a:r>
          </a:p>
        </p:txBody>
      </p:sp>
      <p:sp>
        <p:nvSpPr>
          <p:cNvPr id="18" name="Card_After — Remediated"/>
          <p:cNvSpPr/>
          <p:nvPr/>
        </p:nvSpPr>
        <p:spPr>
          <a:xfrm>
            <a:off x="6355080" y="169164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Head_After — Remediated"/>
          <p:cNvSpPr/>
          <p:nvPr/>
        </p:nvSpPr>
        <p:spPr>
          <a:xfrm>
            <a:off x="6355080" y="1691640"/>
            <a:ext cx="5257800" cy="594360"/>
          </a:xfrm>
          <a:prstGeom prst="roundRect">
            <a:avLst>
              <a:gd name="adj" fmla="val 3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HeadTxt_After — Remediated"/>
          <p:cNvSpPr txBox="1"/>
          <p:nvPr/>
        </p:nvSpPr>
        <p:spPr>
          <a:xfrm>
            <a:off x="6355080" y="169164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After — Remediated</a:t>
            </a:r>
          </a:p>
        </p:txBody>
      </p:sp>
      <p:sp>
        <p:nvSpPr>
          <p:cNvPr id="21" name="Dot_After — Remediated_2.75"/>
          <p:cNvSpPr/>
          <p:nvPr/>
        </p:nvSpPr>
        <p:spPr>
          <a:xfrm>
            <a:off x="6720840" y="259689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t_After — Remediated_2.75"/>
          <p:cNvSpPr txBox="1"/>
          <p:nvPr/>
        </p:nvSpPr>
        <p:spPr>
          <a:xfrm>
            <a:off x="6995160" y="24871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Session stores only admin ID; hash never leaves the server</a:t>
            </a:r>
          </a:p>
        </p:txBody>
      </p:sp>
      <p:sp>
        <p:nvSpPr>
          <p:cNvPr id="23" name="Dot_After — Remediated_3.5"/>
          <p:cNvSpPr/>
          <p:nvPr/>
        </p:nvSpPr>
        <p:spPr>
          <a:xfrm>
            <a:off x="6720840" y="328269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t_After — Remediated_3.5"/>
          <p:cNvSpPr txBox="1"/>
          <p:nvPr/>
        </p:nvSpPr>
        <p:spPr>
          <a:xfrm>
            <a:off x="6995160" y="31729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Secrets rotated, history scrubbed, .gitignore added</a:t>
            </a:r>
          </a:p>
        </p:txBody>
      </p:sp>
      <p:sp>
        <p:nvSpPr>
          <p:cNvPr id="25" name="Dot_After — Remediated_4.25"/>
          <p:cNvSpPr/>
          <p:nvPr/>
        </p:nvSpPr>
        <p:spPr>
          <a:xfrm>
            <a:off x="6720840" y="396849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t_After — Remediated_4.25"/>
          <p:cNvSpPr txBox="1"/>
          <p:nvPr/>
        </p:nvSpPr>
        <p:spPr>
          <a:xfrm>
            <a:off x="6995160" y="38587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express-rate-limit added on /login</a:t>
            </a:r>
          </a:p>
        </p:txBody>
      </p:sp>
      <p:sp>
        <p:nvSpPr>
          <p:cNvPr id="27" name="Dot_After — Remediated_5.0"/>
          <p:cNvSpPr/>
          <p:nvPr/>
        </p:nvSpPr>
        <p:spPr>
          <a:xfrm>
            <a:off x="6720840" y="465429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t_After — Remediated_5.0"/>
          <p:cNvSpPr txBox="1"/>
          <p:nvPr/>
        </p:nvSpPr>
        <p:spPr>
          <a:xfrm>
            <a:off x="6995160" y="45445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Dependencies patched via npm audit fix</a:t>
            </a:r>
          </a:p>
        </p:txBody>
      </p:sp>
      <p:sp>
        <p:nvSpPr>
          <p:cNvPr id="29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31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Bar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72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Circle"/>
          <p:cNvSpPr/>
          <p:nvPr/>
        </p:nvSpPr>
        <p:spPr>
          <a:xfrm>
            <a:off x="10744200" y="137160"/>
            <a:ext cx="914400" cy="91440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Title"/>
          <p:cNvSpPr txBox="1"/>
          <p:nvPr/>
        </p:nvSpPr>
        <p:spPr>
          <a:xfrm>
            <a:off x="548640" y="32918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Proof: Dependency Scan</a:t>
            </a:r>
          </a:p>
        </p:txBody>
      </p:sp>
      <p:sp>
        <p:nvSpPr>
          <p:cNvPr id="6" name="KickerLine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rminal_bg"/>
          <p:cNvSpPr/>
          <p:nvPr/>
        </p:nvSpPr>
        <p:spPr>
          <a:xfrm>
            <a:off x="548640" y="178308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12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rminal_dot0"/>
          <p:cNvSpPr/>
          <p:nvPr/>
        </p:nvSpPr>
        <p:spPr>
          <a:xfrm>
            <a:off x="777240" y="19842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rminal_dot1"/>
          <p:cNvSpPr/>
          <p:nvPr/>
        </p:nvSpPr>
        <p:spPr>
          <a:xfrm>
            <a:off x="1033271" y="19842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rminal_dot2"/>
          <p:cNvSpPr/>
          <p:nvPr/>
        </p:nvSpPr>
        <p:spPr>
          <a:xfrm>
            <a:off x="1289304" y="19842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rminal_text"/>
          <p:cNvSpPr txBox="1"/>
          <p:nvPr/>
        </p:nvSpPr>
        <p:spPr>
          <a:xfrm>
            <a:off x="822959" y="2286000"/>
            <a:ext cx="466344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FFCB05"/>
                </a:solidFill>
                <a:latin typeface="Consolas"/>
              </a:rPr>
              <a:t>$ npm audit --omit=dev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4 vulnerabilities (1 low, 3 high)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cloudinary  &lt;2.7.0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FF6B6B"/>
                </a:solidFill>
                <a:latin typeface="Consolas"/>
              </a:rPr>
              <a:t>Severity: high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DDDFF0"/>
                </a:solidFill>
                <a:latin typeface="Consolas"/>
              </a:rPr>
              <a:t>Arbitrary Argument Injection via '&amp;'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multer  1.0.0 - 2.1.1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FF6B6B"/>
                </a:solidFill>
                <a:latin typeface="Consolas"/>
              </a:rPr>
              <a:t>Severity: high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DDDFF0"/>
                </a:solidFill>
                <a:latin typeface="Consolas"/>
              </a:rPr>
              <a:t>DoS: deeply nested field names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DDDFF0"/>
                </a:solidFill>
                <a:latin typeface="Consolas"/>
              </a:rPr>
              <a:t>DoS: incomplete upload cleanup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6BE68A"/>
                </a:solidFill>
                <a:latin typeface="Consolas"/>
              </a:rPr>
              <a:t>Fix -&gt; npm audit fix</a:t>
            </a:r>
          </a:p>
        </p:txBody>
      </p:sp>
      <p:sp>
        <p:nvSpPr>
          <p:cNvPr id="12" name="BodyHeading"/>
          <p:cNvSpPr txBox="1"/>
          <p:nvPr/>
        </p:nvSpPr>
        <p:spPr>
          <a:xfrm>
            <a:off x="6035040" y="182880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7247B"/>
                </a:solidFill>
                <a:latin typeface="Segoe UI"/>
              </a:rPr>
              <a:t>What this means</a:t>
            </a:r>
          </a:p>
        </p:txBody>
      </p:sp>
      <p:sp>
        <p:nvSpPr>
          <p:cNvPr id="13" name="BodyPara"/>
          <p:cNvSpPr txBox="1"/>
          <p:nvPr/>
        </p:nvSpPr>
        <p:spPr>
          <a:xfrm>
            <a:off x="6035040" y="242316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D2D3A"/>
                </a:solidFill>
                <a:latin typeface="Segoe UI"/>
              </a:rPr>
              <a:t>Two dependencies carry known CVEs. Cloudinary's SDK is vulnerable to argument injection, and Multer to denial-of-service via crafted uploads — both sit in the file-upload flow for careers, resumes, and member photos.</a:t>
            </a:r>
          </a:p>
        </p:txBody>
      </p:sp>
      <p:sp>
        <p:nvSpPr>
          <p:cNvPr id="14" name="MiniDot2_4.35"/>
          <p:cNvSpPr/>
          <p:nvPr/>
        </p:nvSpPr>
        <p:spPr>
          <a:xfrm>
            <a:off x="6035040" y="4050791"/>
            <a:ext cx="109728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iniTxt2_4.35"/>
          <p:cNvSpPr txBox="1"/>
          <p:nvPr/>
        </p:nvSpPr>
        <p:spPr>
          <a:xfrm>
            <a:off x="6309360" y="3941063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Reproducible via a single `npm audit` command</a:t>
            </a:r>
          </a:p>
        </p:txBody>
      </p:sp>
      <p:sp>
        <p:nvSpPr>
          <p:cNvPr id="16" name="MiniDot2_4.8999999999999995"/>
          <p:cNvSpPr/>
          <p:nvPr/>
        </p:nvSpPr>
        <p:spPr>
          <a:xfrm>
            <a:off x="6035040" y="4553712"/>
            <a:ext cx="109728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iniTxt2_4.8999999999999995"/>
          <p:cNvSpPr txBox="1"/>
          <p:nvPr/>
        </p:nvSpPr>
        <p:spPr>
          <a:xfrm>
            <a:off x="6309360" y="4443983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Confirmed in both Admin &amp; Public repos</a:t>
            </a:r>
          </a:p>
        </p:txBody>
      </p:sp>
      <p:sp>
        <p:nvSpPr>
          <p:cNvPr id="18" name="MiniDot2_5.449999999999999"/>
          <p:cNvSpPr/>
          <p:nvPr/>
        </p:nvSpPr>
        <p:spPr>
          <a:xfrm>
            <a:off x="6035040" y="5056631"/>
            <a:ext cx="109728" cy="109728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iniTxt2_5.449999999999999"/>
          <p:cNvSpPr txBox="1"/>
          <p:nvPr/>
        </p:nvSpPr>
        <p:spPr>
          <a:xfrm>
            <a:off x="6309360" y="4946903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D2D3A"/>
                </a:solidFill>
                <a:latin typeface="Segoe UI"/>
              </a:rPr>
              <a:t>Fix: `npm audit fix`, then bump to patched versions</a:t>
            </a:r>
          </a:p>
        </p:txBody>
      </p:sp>
      <p:sp>
        <p:nvSpPr>
          <p:cNvPr id="20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22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Fi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QuoteMark"/>
          <p:cNvSpPr txBox="1"/>
          <p:nvPr/>
        </p:nvSpPr>
        <p:spPr>
          <a:xfrm>
            <a:off x="5120640" y="82296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0" b="1" i="0">
                <a:solidFill>
                  <a:srgbClr val="DDDFF0"/>
                </a:solidFill>
                <a:latin typeface="Segoe UI"/>
              </a:rPr>
              <a:t>“</a:t>
            </a:r>
          </a:p>
        </p:txBody>
      </p:sp>
      <p:sp>
        <p:nvSpPr>
          <p:cNvPr id="4" name="QuoteText"/>
          <p:cNvSpPr txBox="1"/>
          <p:nvPr/>
        </p:nvSpPr>
        <p:spPr>
          <a:xfrm>
            <a:off x="1463040" y="2606040"/>
            <a:ext cx="9235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i="1">
                <a:solidFill>
                  <a:srgbClr val="27247B"/>
                </a:solidFill>
                <a:latin typeface="Segoe UI"/>
              </a:rPr>
              <a:t>Security isn't a feature you bolt on at the end —</a:t>
            </a:r>
          </a:p>
          <a:p>
            <a:pPr algn="ctr">
              <a:lnSpc>
                <a:spcPct val="125000"/>
              </a:lnSpc>
            </a:pPr>
            <a:r>
              <a:rPr sz="2500" b="0" i="1">
                <a:solidFill>
                  <a:srgbClr val="27247B"/>
                </a:solidFill>
                <a:latin typeface="Segoe UI"/>
              </a:rPr>
              <a:t>it's a habit you build in from the first commit.</a:t>
            </a:r>
          </a:p>
        </p:txBody>
      </p:sp>
      <p:sp>
        <p:nvSpPr>
          <p:cNvPr id="5" name="QuoteLine"/>
          <p:cNvSpPr/>
          <p:nvPr/>
        </p:nvSpPr>
        <p:spPr>
          <a:xfrm>
            <a:off x="5641848" y="4343400"/>
            <a:ext cx="914400" cy="41148"/>
          </a:xfrm>
          <a:prstGeom prst="rect">
            <a:avLst/>
          </a:prstGeom>
          <a:solidFill>
            <a:srgbClr val="D79C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Attr"/>
          <p:cNvSpPr txBox="1"/>
          <p:nvPr/>
        </p:nvSpPr>
        <p:spPr>
          <a:xfrm>
            <a:off x="1965960" y="4480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79C07"/>
                </a:solidFill>
                <a:latin typeface="Segoe UI"/>
              </a:rPr>
              <a:t>— Security Testing Findings, ARDE Platform Audit</a:t>
            </a:r>
          </a:p>
        </p:txBody>
      </p:sp>
      <p:sp>
        <p:nvSpPr>
          <p:cNvPr id="7" name="AccentCircle"/>
          <p:cNvSpPr/>
          <p:nvPr/>
        </p:nvSpPr>
        <p:spPr>
          <a:xfrm>
            <a:off x="5852160" y="5486400"/>
            <a:ext cx="502920" cy="50292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10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7247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7247B"/>
              </a:gs>
              <a:gs pos="100000">
                <a:srgbClr val="1A186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Circle"/>
          <p:cNvSpPr/>
          <p:nvPr/>
        </p:nvSpPr>
        <p:spPr>
          <a:xfrm>
            <a:off x="9966960" y="-1554480"/>
            <a:ext cx="4023360" cy="4023360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ngOutline"/>
          <p:cNvSpPr/>
          <p:nvPr/>
        </p:nvSpPr>
        <p:spPr>
          <a:xfrm>
            <a:off x="-2103120" y="3017520"/>
            <a:ext cx="4572000" cy="4572000"/>
          </a:xfrm>
          <a:prstGeom prst="ellipse">
            <a:avLst/>
          </a:prstGeom>
          <a:noFill/>
          <a:ln w="25400">
            <a:solidFill>
              <a:srgbClr val="4E7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377440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914400" y="34290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DDDFF0"/>
                </a:solidFill>
                <a:latin typeface="Segoe UI"/>
              </a:rPr>
              <a:t>Let's stay in touch.</a:t>
            </a:r>
          </a:p>
        </p:txBody>
      </p:sp>
      <p:sp>
        <p:nvSpPr>
          <p:cNvPr id="7" name="Contact"/>
          <p:cNvSpPr txBox="1"/>
          <p:nvPr/>
        </p:nvSpPr>
        <p:spPr>
          <a:xfrm>
            <a:off x="914400" y="416052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CB05"/>
                </a:solidFill>
                <a:latin typeface="Segoe UI"/>
              </a:rPr>
              <a:t>hello@arde.sg      www.arde.sg</a:t>
            </a:r>
          </a:p>
        </p:txBody>
      </p:sp>
      <p:sp>
        <p:nvSpPr>
          <p:cNvPr id="8" name="LogoBadge"/>
          <p:cNvSpPr/>
          <p:nvPr/>
        </p:nvSpPr>
        <p:spPr>
          <a:xfrm>
            <a:off x="457200" y="59893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m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6112764"/>
            <a:ext cx="548640" cy="548640"/>
          </a:xfrm>
          <a:prstGeom prst="rect">
            <a:avLst/>
          </a:prstGeom>
        </p:spPr>
      </p:pic>
      <p:sp>
        <p:nvSpPr>
          <p:cNvPr id="10" name="PageNum"/>
          <p:cNvSpPr txBox="1"/>
          <p:nvPr/>
        </p:nvSpPr>
        <p:spPr>
          <a:xfrm>
            <a:off x="11292840" y="6263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CB05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